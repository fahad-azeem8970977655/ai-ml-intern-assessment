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40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87371"/>
            <a:ext cx="9144000" cy="13030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CourseAdvisor AI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— Prerequisite &amp; Course Planning Assistant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Merit Technologies  |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 Intern Assessment 1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March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Fahad Azeem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PUCIT</a:t>
            </a:r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8503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784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7840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know which courses they can take next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03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7282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72821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chains are buried in complex catalog PDFs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03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4780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47802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are overloaded with repeated policy questions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03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22783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22783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hallucinate policy information without citations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03920" cy="621792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977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CourseAdvisor AI: grounded answers from actual catalog docs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4-Agent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965960" cy="3200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1600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69164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2240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profile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clarifying questions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5087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Check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21992" y="21945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41448" y="914400"/>
            <a:ext cx="1965960" cy="320040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41448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41448" y="1600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78608" y="2148840"/>
            <a:ext cx="169164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2441448" y="2240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university filter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70048" y="3246120"/>
            <a:ext cx="15087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2670048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34840" y="21945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54296" y="914400"/>
            <a:ext cx="1965960" cy="3200400"/>
          </a:xfrm>
          <a:prstGeom prst="rect">
            <a:avLst/>
          </a:prstGeom>
          <a:solidFill>
            <a:srgbClr val="4C1D9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54296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654296" y="1600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91456" y="2148840"/>
            <a:ext cx="169164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654296" y="2240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every claim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82896" y="3246120"/>
            <a:ext cx="15087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Citations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47688" y="21945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867144" y="914400"/>
            <a:ext cx="1965960" cy="3200400"/>
          </a:xfrm>
          <a:prstGeom prst="rect">
            <a:avLst/>
          </a:prstGeom>
          <a:solidFill>
            <a:srgbClr val="7C2D1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67144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867144" y="1600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Agent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04304" y="2148840"/>
            <a:ext cx="169164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867144" y="2240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citations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hallucinations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95744" y="3246120"/>
            <a:ext cx="15087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7095744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Query → [1] → [2] → [3] → [4] → Grounded Answer with Citations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 — 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280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128016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1031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27048" y="1920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91640" y="914400"/>
            <a:ext cx="1280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91640" y="914400"/>
            <a:ext cx="128016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914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144475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1031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extract_prereq()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90088" y="1920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54680" y="914400"/>
            <a:ext cx="1280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914400"/>
            <a:ext cx="128016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914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54680" y="144475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800/200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54680" y="21031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53128" y="1920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914400"/>
            <a:ext cx="1280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914400"/>
            <a:ext cx="128016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914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17720" y="144475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1031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dimensions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16168" y="1920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914400"/>
            <a:ext cx="1280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914400"/>
            <a:ext cx="128016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914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80760" y="144475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1031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79208" y="1920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43800" y="914400"/>
            <a:ext cx="1280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43800" y="914400"/>
            <a:ext cx="128016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7543800" y="914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43800" y="144475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43800" y="21031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Uni Filter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3657600"/>
            <a:ext cx="8686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" y="370332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extract_prereq_text() converts table rows like </a:t>
            </a: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"CS201  Data Structures  CS101"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natural language: </a:t>
            </a: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"Course CS201 requires CS101 as a prerequisite"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dramatically improves retrieval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 — 8 Universities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965960" cy="14630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90472"/>
            <a:ext cx="1600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554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· DS · SE · 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cs + rules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04872" y="960120"/>
            <a:ext cx="1965960" cy="146304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04872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87752" y="1490472"/>
            <a:ext cx="1600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404872" y="1554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· 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04872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cs + rules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81144" y="960120"/>
            <a:ext cx="1965960" cy="1463040"/>
          </a:xfrm>
          <a:prstGeom prst="rect">
            <a:avLst/>
          </a:prstGeom>
          <a:solidFill>
            <a:srgbClr val="4C1D9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1144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64024" y="1490472"/>
            <a:ext cx="1600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581144" y="1554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· 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81144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cs catalog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57416" y="960120"/>
            <a:ext cx="1965960" cy="1463040"/>
          </a:xfrm>
          <a:prstGeom prst="rect">
            <a:avLst/>
          </a:prstGeom>
          <a:solidFill>
            <a:srgbClr val="7C2D1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57416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0296" y="1490472"/>
            <a:ext cx="1600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757416" y="1554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· DS · SE · 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57416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cs catalog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651760"/>
            <a:ext cx="1965960" cy="14630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" y="2743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 Malakand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182112"/>
            <a:ext cx="1600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246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rules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04872" y="2651760"/>
            <a:ext cx="1965960" cy="146304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04872" y="2743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 Sargodah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87752" y="3182112"/>
            <a:ext cx="1600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2404872" y="3246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04872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cs catalog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81144" y="2651760"/>
            <a:ext cx="1965960" cy="1463040"/>
          </a:xfrm>
          <a:prstGeom prst="rect">
            <a:avLst/>
          </a:prstGeom>
          <a:solidFill>
            <a:srgbClr val="4C1D9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81144" y="2743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Level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64024" y="3182112"/>
            <a:ext cx="1600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4581144" y="3246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81144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cs catalog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57416" y="2651760"/>
            <a:ext cx="1965960" cy="1463040"/>
          </a:xfrm>
          <a:prstGeom prst="rect">
            <a:avLst/>
          </a:prstGeom>
          <a:solidFill>
            <a:srgbClr val="7C2D1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757416" y="2743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40296" y="3182112"/>
            <a:ext cx="1600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6757416" y="3246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· 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57416" y="3611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cs catalog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Feature: Hard University Filter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474720"/>
          </a:xfrm>
          <a:prstGeom prst="rect">
            <a:avLst/>
          </a:prstGeom>
          <a:solidFill>
            <a:srgbClr val="7C2D1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Without Filter (OLD)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 about FAST policy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FAISS returns top-7 chunks
→ No FAST docs found
</a:t>
            </a: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Falls back to Malakand docs
</a:t>
            </a: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Answer cites wrong university ❌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Hallucination!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931920" cy="347472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With Hard Filter (FIXED)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 about FAST policy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FAISS returns top-7 chunks
</a:t>
            </a: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Filter: keep only FAST chunks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 FAST chunks found
</a:t>
            </a: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NO_SOURCE block
</a:t>
            </a: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"I don't have that info" ✅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Safe abstention!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 Format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Plan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or term plan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55648"/>
            <a:ext cx="548640" cy="6858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75564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8013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(Prereqs Satisfied)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10312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 with evidence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51176"/>
            <a:ext cx="548640" cy="6858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551176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5968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9864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[Source: filename, Page X] for every claim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46704"/>
            <a:ext cx="548640" cy="68580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346704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3924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6941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info requests or None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42232"/>
            <a:ext cx="54864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142232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41879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/ Not in Catalog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48970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assumed or not found + suggestions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Results — 25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2286000"/>
          </a:xfrm>
          <a:prstGeom prst="rect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23/25 responses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828800" cy="228600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46888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 prereq checks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828800" cy="2286000"/>
          </a:xfrm>
          <a:prstGeom prst="rect">
            <a:avLst/>
          </a:prstGeom>
          <a:solidFill>
            <a:srgbClr val="4C1D9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not-in-docs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1005840"/>
            <a:ext cx="1828800" cy="2286000"/>
          </a:xfrm>
          <a:prstGeom prst="rect">
            <a:avLst/>
          </a:prstGeom>
          <a:solidFill>
            <a:srgbClr val="7C2D1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675120" y="2148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24/25 responses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850392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547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Test Set Breakdown: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10 prereq checks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5 chain questions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5 program requirements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5 not-in-docs tricks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Modes &amp; Fixes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412480" cy="777240"/>
          </a:xfrm>
          <a:prstGeom prst="rect">
            <a:avLst/>
          </a:prstGeom>
          <a:solidFill>
            <a:srgbClr val="052E1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77724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FIXED ✅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Cross-university citation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NO_SOURCE block prevents fallback to other uni docs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41248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777240" cy="32004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488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Planned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chain 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3+ level chains miss intermediate courses → Knowledge graph fix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41248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08960"/>
            <a:ext cx="777240" cy="32004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1089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Planned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8872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Either/OR prerequisites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"CS101 or MATH101" sometimes treated as requiring both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841248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069080"/>
            <a:ext cx="777240" cy="32004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0690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Partial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boundary edge 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grade C not enforced when grade not explicitly mentioned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743200" y="2194560"/>
            <a:ext cx="3657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3774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4-Agent RAG Pipeline (Intake, Retriever, Planner, Verifier)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27614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Hard university filter — zero cross-university hallucination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31455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92% citation coverage · 100% abstention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352958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Streamlit UI · Google Colab compatible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  ·  L1F22BSCS0353  ·  University of Central Punjab  ·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On-screen Show (16:9)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CourseAdvisor AI</dc:title>
  <dc:subject>PptxGenJS Presentation</dc:subject>
  <dc:creator>PptxGenJS</dc:creator>
  <cp:lastModifiedBy>DELL</cp:lastModifiedBy>
  <cp:revision>2</cp:revision>
  <dcterms:created xsi:type="dcterms:W3CDTF">2026-03-30T08:07:42Z</dcterms:created>
  <dcterms:modified xsi:type="dcterms:W3CDTF">2026-03-30T08:32:46Z</dcterms:modified>
</cp:coreProperties>
</file>